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143000" y="1714500"/>
            <a:ext cx="9906000" cy="3429000"/>
            <a:chOff x="1143000" y="1714500"/>
            <a:chExt cx="9906000" cy="3429000"/>
          </a:xfrm>
        </p:grpSpPr>
        <p:sp>
          <p:nvSpPr>
            <p:cNvPr id="2" name="Rectangle 2"/>
            <p:cNvSpPr/>
            <p:nvPr/>
          </p:nvSpPr>
          <p:spPr>
            <a:xfrm>
              <a:off x="1143000" y="1714500"/>
              <a:ext cx="9906000" cy="3429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8575">
              <a:solidFill>
                <a:srgbClr val="E91E8C"/>
              </a:solidFill>
            </a:ln>
          </p:spPr>
        </p:sp>
        <p:sp>
          <p:nvSpPr>
            <p:cNvPr id="3" name="Rectangle 3"/>
            <p:cNvSpPr/>
            <p:nvPr/>
          </p:nvSpPr>
          <p:spPr>
            <a:xfrm>
              <a:off x="1143000" y="1714500"/>
              <a:ext cx="9906000" cy="1333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600200" y="2274570"/>
              <a:ext cx="767105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小红书运营求职作品集</a:t>
              </a:r>
              <a:endParaRPr lang="zh-CN" sz="54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27632" y="3202305"/>
              <a:ext cx="213360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美妆个护赛道方案</a:t>
              </a:r>
              <a:endParaRPr lang="zh-CN" sz="21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12392" y="3950018"/>
              <a:ext cx="53113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 大模块 · 从个人定位到商业转化 · 完整呈现运营全链路实战能力</a:t>
              </a:r>
              <a:endParaRPr lang="zh-CN" sz="13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2542159" cy="906589"/>
            <a:chOff x="666750" y="971550"/>
            <a:chExt cx="2542159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2321560" cy="530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作品集目录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1847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 大模块环环相扣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6750" y="2381250"/>
            <a:ext cx="10848975" cy="3571875"/>
            <a:chOff x="666750" y="2381250"/>
            <a:chExt cx="10848975" cy="3571875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253365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25336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106" y="2682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lang="en-US" sz="18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9630" y="3076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个人定位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2297" y="339994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差异化标签 + 三大核心能力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38525" y="2381250"/>
              <a:ext cx="253365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FBCFE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438525" y="2381250"/>
              <a:ext cx="25336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19881" y="2682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</a:t>
              </a:r>
              <a:endParaRPr lang="en-US" sz="18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21405" y="3076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账号策划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23945" y="3399790"/>
              <a:ext cx="2116455" cy="3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人设 / 人群 / 个人号 v 品牌号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10300" y="2381250"/>
              <a:ext cx="253365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FBCFE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10300" y="2381250"/>
              <a:ext cx="25336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91656" y="2682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lang="en-US" sz="18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3180" y="3076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竞品分析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5847" y="33999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 类对标账号 + 爆款规律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982075" y="2381250"/>
              <a:ext cx="253365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FBCFE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982075" y="2381250"/>
              <a:ext cx="25336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63431" y="2682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</a:t>
              </a:r>
              <a:endParaRPr lang="en-US" sz="18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64955" y="3076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内容策略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67495" y="3399790"/>
              <a:ext cx="1901190" cy="381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 大内容方向 + 14 天选题库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" y="4286250"/>
              <a:ext cx="253365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FBCFE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" y="4286250"/>
              <a:ext cx="25336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106" y="4587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</a:t>
              </a:r>
              <a:endParaRPr lang="en-US" sz="18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9630" y="4981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爆款文案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2170" y="5304790"/>
              <a:ext cx="181737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爆款公式 + 种草 / 教程案例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438525" y="4286250"/>
              <a:ext cx="253365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FBCFE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38525" y="4286250"/>
              <a:ext cx="25336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19881" y="4587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06</a:t>
              </a:r>
              <a:endParaRPr lang="en-US" sz="18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21405" y="4981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冷启动涨粉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23945" y="5304790"/>
              <a:ext cx="198691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 步涨粉 + 发布节奏 +风险预案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10300" y="4286250"/>
              <a:ext cx="253365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FBCFE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10300" y="4286250"/>
              <a:ext cx="25336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91656" y="4587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</a:t>
              </a:r>
              <a:endParaRPr lang="en-US" sz="18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93180" y="4981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数据看板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5720" y="5304790"/>
              <a:ext cx="20904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四大板块 + 粉丝资产 + AB 测试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982075" y="4286250"/>
              <a:ext cx="253365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FBCFE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82075" y="4286250"/>
              <a:ext cx="25336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63431" y="4587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08</a:t>
              </a:r>
              <a:endParaRPr lang="en-US" sz="18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64955" y="4981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商业转化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67495" y="5304790"/>
              <a:ext cx="19888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转化链路 + Brief 拆解</a:t>
              </a:r>
              <a:r>
                <a:rPr lang="en-US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ROI</a:t>
              </a:r>
              <a:endParaRPr lang="en-US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3849897" cy="906589"/>
            <a:chOff x="666750" y="971550"/>
            <a:chExt cx="3849897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30829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· 个人定位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6201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差异化标签 = 赛道 × 方法论 × 平台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"/>
            </p:custDataLst>
          </p:nvPr>
        </p:nvGrpSpPr>
        <p:grpSpPr>
          <a:xfrm>
            <a:off x="666750" y="2381250"/>
            <a:ext cx="10858500" cy="3524250"/>
            <a:chOff x="666750" y="2381250"/>
            <a:chExt cx="10858500" cy="352425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66750" y="2381250"/>
              <a:ext cx="3238500" cy="24765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>
              <p:custDataLst>
                <p:tags r:id="rId3"/>
              </p:custDataLst>
            </p:nvPr>
          </p:nvSpPr>
          <p:spPr>
            <a:xfrm>
              <a:off x="666750" y="2381250"/>
              <a:ext cx="3238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888873" y="27960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赛道</a:t>
              </a:r>
              <a:endParaRPr lang="zh-CN" sz="1280" b="1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883158" y="3169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美妆个护</a:t>
              </a:r>
              <a:endParaRPr lang="zh-CN" sz="24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888873" y="36723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垂直深耕，赛道明确，专业度高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Rectangle 11"/>
            <p:cNvSpPr/>
            <p:nvPr>
              <p:custDataLst>
                <p:tags r:id="rId7"/>
              </p:custDataLst>
            </p:nvPr>
          </p:nvSpPr>
          <p:spPr>
            <a:xfrm>
              <a:off x="4286250" y="2381250"/>
              <a:ext cx="3238500" cy="24765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4286250" y="2381250"/>
              <a:ext cx="3238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4508373" y="27960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方法论</a:t>
              </a:r>
              <a:endParaRPr lang="zh-CN" sz="1280" b="1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4502658" y="31699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数据驱动型</a:t>
              </a:r>
              <a:endParaRPr lang="zh-CN" sz="24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4508373" y="36723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方法可量化，结果可验证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12"/>
              </p:custDataLst>
            </p:nvPr>
          </p:nvSpPr>
          <p:spPr>
            <a:xfrm>
              <a:off x="7905750" y="2381250"/>
              <a:ext cx="3238500" cy="24765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7" name="Rectangle 17"/>
            <p:cNvSpPr/>
            <p:nvPr>
              <p:custDataLst>
                <p:tags r:id="rId13"/>
              </p:custDataLst>
            </p:nvPr>
          </p:nvSpPr>
          <p:spPr>
            <a:xfrm>
              <a:off x="7905750" y="2381250"/>
              <a:ext cx="3238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8127873" y="27960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平台</a:t>
              </a:r>
              <a:endParaRPr lang="zh-CN" sz="1280" b="1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8122158" y="31699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小红书运营人</a:t>
              </a:r>
              <a:endParaRPr lang="zh-CN" sz="24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8127873" y="3672364"/>
              <a:ext cx="178816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深耕平台生态，熟知规则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6750" y="5143500"/>
              <a:ext cx="10858500" cy="762000"/>
            </a:xfrm>
            <a:prstGeom prst="roundRect">
              <a:avLst>
                <a:gd name="adj" fmla="val 250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118" y="5403532"/>
              <a:ext cx="50195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差异化标签 = 赛道 × 方法论 × 平台，三维度叠加</a:t>
              </a:r>
              <a:endParaRPr lang="zh-CN" sz="16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· 三大核心能力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585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内容策划 × 数据复盘 × 跨部门协作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6750" y="2190750"/>
            <a:ext cx="9972675" cy="3333750"/>
            <a:chOff x="666750" y="2190750"/>
            <a:chExt cx="9972675" cy="3333750"/>
          </a:xfrm>
        </p:grpSpPr>
        <p:sp>
          <p:nvSpPr>
            <p:cNvPr id="6" name="Ellipse 6"/>
            <p:cNvSpPr/>
            <p:nvPr/>
          </p:nvSpPr>
          <p:spPr>
            <a:xfrm>
              <a:off x="5572125" y="3095625"/>
              <a:ext cx="1047750" cy="10477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68038" y="3553778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小红书</a:t>
              </a:r>
              <a:endParaRPr 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68038" y="3744278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运营人</a:t>
              </a:r>
              <a:endParaRPr 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1714500" y="2857500"/>
              <a:ext cx="3856990" cy="762000"/>
            </a:xfrm>
            <a:custGeom>
              <a:avLst/>
              <a:gdLst/>
              <a:ahLst/>
              <a:cxnLst/>
              <a:rect l="l" t="t" r="r" b="b"/>
              <a:pathLst>
                <a:path w="4381500" h="857250">
                  <a:moveTo>
                    <a:pt x="0" y="0"/>
                  </a:moveTo>
                  <a:lnTo>
                    <a:pt x="4381500" y="857250"/>
                  </a:lnTo>
                </a:path>
              </a:pathLst>
            </a:custGeom>
            <a:noFill/>
            <a:ln w="19050">
              <a:solidFill>
                <a:srgbClr val="FBCFE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190750"/>
              <a:ext cx="2095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6750" y="2190750"/>
              <a:ext cx="2095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9660" y="2346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内容策划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9625" y="280987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936" y="29017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选题体系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1685925" y="325755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495425" y="280987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93736" y="29017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爆款标题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1685925" y="325755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81225" y="280987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79536" y="29017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脚本结构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1685925" y="325755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1714500" y="3838575"/>
              <a:ext cx="3856990" cy="1019175"/>
            </a:xfrm>
            <a:custGeom>
              <a:avLst/>
              <a:gdLst/>
              <a:ahLst/>
              <a:cxnLst/>
              <a:rect l="l" t="t" r="r" b="b"/>
              <a:pathLst>
                <a:path w="4381500" h="1143000">
                  <a:moveTo>
                    <a:pt x="0" y="114300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rgbClr val="FBCFE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6750" y="4191000"/>
              <a:ext cx="2095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4191000"/>
              <a:ext cx="2095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39660" y="43462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数据复盘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9625" y="481012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7936" y="49020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指标拆解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Ellipse 29"/>
            <p:cNvSpPr/>
            <p:nvPr/>
          </p:nvSpPr>
          <p:spPr>
            <a:xfrm>
              <a:off x="1685925" y="525780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495425" y="481012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93736" y="49020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归因分析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Ellipse 32"/>
            <p:cNvSpPr/>
            <p:nvPr/>
          </p:nvSpPr>
          <p:spPr>
            <a:xfrm>
              <a:off x="1685925" y="525780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181225" y="481012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279536" y="49020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增长闭环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685925" y="525780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6619240" y="3619500"/>
              <a:ext cx="2905760" cy="76200"/>
            </a:xfrm>
            <a:custGeom>
              <a:avLst/>
              <a:gdLst/>
              <a:ahLst/>
              <a:cxnLst/>
              <a:rect l="l" t="t" r="r" b="b"/>
              <a:pathLst>
                <a:path w="3429000" h="95250">
                  <a:moveTo>
                    <a:pt x="342900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FBCFE8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77250" y="2952750"/>
              <a:ext cx="2095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477250" y="2952750"/>
              <a:ext cx="2095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33545" y="310800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跨部门协作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620125" y="357187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71281" y="3663791"/>
              <a:ext cx="5453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Brief 拆解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Ellipse 42"/>
            <p:cNvSpPr/>
            <p:nvPr/>
          </p:nvSpPr>
          <p:spPr>
            <a:xfrm>
              <a:off x="9496425" y="401955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305925" y="357187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04236" y="36637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项目推进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" name="Ellipse 45"/>
            <p:cNvSpPr/>
            <p:nvPr/>
          </p:nvSpPr>
          <p:spPr>
            <a:xfrm>
              <a:off x="9496425" y="401955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91725" y="3571875"/>
              <a:ext cx="647700" cy="26670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090036" y="36637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资源协调</a:t>
              </a:r>
              <a:endParaRPr lang="zh-CN" sz="82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Ellipse 48"/>
            <p:cNvSpPr/>
            <p:nvPr/>
          </p:nvSpPr>
          <p:spPr>
            <a:xfrm>
              <a:off x="9496425" y="4019550"/>
              <a:ext cx="57150" cy="5715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3303532" cy="906589"/>
            <a:chOff x="666750" y="971550"/>
            <a:chExt cx="3303532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30829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· 账号策划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你是谁？用户凭什么关注你？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2381250"/>
            <a:ext cx="10858500" cy="3143250"/>
            <a:chOff x="666750" y="2381250"/>
            <a:chExt cx="10858500" cy="314325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10858500" cy="857250"/>
            </a:xfrm>
            <a:prstGeom prst="roundRect">
              <a:avLst>
                <a:gd name="adj" fmla="val 22222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356" y="2710815"/>
              <a:ext cx="6162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定位：学生党身边的平价护肤搭子，走真诚 + 专业路线</a:t>
              </a:r>
              <a:endParaRPr lang="zh-CN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66750" y="3429000"/>
              <a:ext cx="333375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66750" y="342900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6968" y="3774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人设定位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9254" y="4156710"/>
              <a:ext cx="2648712" cy="491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不改初心的平价护肤课代表 像身边爱研</a:t>
              </a:r>
              <a:b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究成分、从不乱花钱的闺蜜</a:t>
              </a:r>
              <a:endParaRPr lang="zh-CN" sz="12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33875" y="3429000"/>
              <a:ext cx="333375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33875" y="342900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54093" y="377475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人设关键词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56379" y="4156710"/>
              <a:ext cx="2755392" cy="491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平价护肤、学生党、成分党、真实测评、</a:t>
              </a:r>
              <a:b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踩雷预警</a:t>
              </a:r>
              <a:endParaRPr lang="zh-CN" sz="12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0" y="3429000"/>
              <a:ext cx="333375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01000" y="342900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21218" y="377475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差异化优势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3504" y="4156710"/>
              <a:ext cx="2755392" cy="491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别人散播价位焦虑，我们专门做「便宜但</a:t>
              </a:r>
              <a:b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成分良心」的护肤</a:t>
              </a:r>
              <a:endParaRPr lang="zh-CN" sz="12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5855668" cy="906589"/>
            <a:chOff x="666750" y="971550"/>
            <a:chExt cx="5855668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· 目标人群画像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5625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18-25 岁女大学生和职场新人，预算不多但愿意做功课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6750" y="2381250"/>
            <a:ext cx="10858500" cy="3810000"/>
            <a:chOff x="666750" y="2381250"/>
            <a:chExt cx="10858500" cy="381000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143500" cy="3048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143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6493" y="2727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基础画像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8398" y="3100864"/>
              <a:ext cx="12277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年龄：18-25 岁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8398" y="35294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身份：大学生、职场新人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8398" y="39581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地域：一二线城市为主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8398" y="4386739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护肤预算：100-300 元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0" y="2381250"/>
              <a:ext cx="5429250" cy="3048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0" y="2381250"/>
              <a:ext cx="542925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25743" y="2727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行为特征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27648" y="31008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刷小红书是日常，买前必做功课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27648" y="362473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成分党意识强，会看配方表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27648" y="4148614"/>
              <a:ext cx="305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被学生党/平价/踩雷/干货等关键词吸引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27648" y="46724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信任真实测评，反感硬广</a:t>
              </a:r>
              <a:endParaRPr lang="zh-CN" sz="12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5715000"/>
              <a:ext cx="10858500" cy="476250"/>
            </a:xfrm>
            <a:prstGeom prst="roundRect">
              <a:avLst>
                <a:gd name="adj" fmla="val 400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5867400"/>
              <a:ext cx="5379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核心结论：她们需要的是真诚 + 平价 + 有干货的护肤博主</a:t>
              </a:r>
              <a:endParaRPr lang="zh-CN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3511715" cy="906589"/>
            <a:chOff x="666750" y="971550"/>
            <a:chExt cx="3511715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30829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· 竞品分析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 类对标账号 · 横向对比找差异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6750" y="2101215"/>
            <a:ext cx="10382250" cy="3619500"/>
            <a:chOff x="666750" y="2286000"/>
            <a:chExt cx="10382250" cy="3619500"/>
          </a:xfrm>
        </p:grpSpPr>
        <p:sp>
          <p:nvSpPr>
            <p:cNvPr id="6" name="Rectangle 6"/>
            <p:cNvSpPr/>
            <p:nvPr/>
          </p:nvSpPr>
          <p:spPr>
            <a:xfrm>
              <a:off x="666750" y="2286000"/>
              <a:ext cx="10382250" cy="571500"/>
            </a:xfrm>
            <a:prstGeom prst="roundRect">
              <a:avLst>
                <a:gd name="adj" fmla="val 200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53033" y="25184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维度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36976" y="2518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人设种草型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189726" y="2518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硬核测评型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42476" y="2518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品牌官方号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2952750"/>
              <a:ext cx="103822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2297" y="317134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定位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02534" y="31713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真人出镜，真实感圈粉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1248" y="31713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成分数据建立专业感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9645" y="317134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品牌背书+价值观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6750" y="3448050"/>
              <a:ext cx="10382250" cy="476250"/>
            </a:xfrm>
            <a:prstGeom prst="roundRect">
              <a:avLst>
                <a:gd name="adj" fmla="val 16000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2297" y="366664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形式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47654" y="3666649"/>
              <a:ext cx="1038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图文+短视频 vlog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16895" y="366664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长图文+深度测评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03682" y="3666649"/>
              <a:ext cx="1137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品牌故事+产品深度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6750" y="3943350"/>
              <a:ext cx="103822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2297" y="416194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68498" y="41619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人设亲和，互动率高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55284" y="41619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专业可信，搜索流量大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73998" y="41619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资源丰富，权威度高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" y="4438650"/>
              <a:ext cx="10382250" cy="476250"/>
            </a:xfrm>
            <a:prstGeom prst="roundRect">
              <a:avLst>
                <a:gd name="adj" fmla="val 16000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2297" y="465724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可借鉴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64145" y="465724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口语化+真实体验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50932" y="4657249"/>
              <a:ext cx="1137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成分拆解+客观数据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71889" y="4657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系统内容架构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6750" y="4933950"/>
              <a:ext cx="103822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2297" y="515254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不可照搬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00425" y="5152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人设需长期沉淀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5103" y="51525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专业门槛高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39962" y="51525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缺品牌资源难复制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6750" y="5429250"/>
              <a:ext cx="10382250" cy="476250"/>
            </a:xfrm>
            <a:prstGeom prst="roundRect">
              <a:avLst>
                <a:gd name="adj" fmla="val 16000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2297" y="564784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我的切入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98182" y="5647849"/>
              <a:ext cx="1137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学生党+闺蜜聊护肤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50932" y="5647849"/>
              <a:ext cx="1137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平价+成分党双标签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73998" y="56478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个人视角真实用后感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84835" y="6076315"/>
            <a:ext cx="10858500" cy="533400"/>
            <a:chOff x="666750" y="5219700"/>
            <a:chExt cx="10858500" cy="533400"/>
          </a:xfrm>
        </p:grpSpPr>
        <p:sp>
          <p:nvSpPr>
            <p:cNvPr id="42" name="Rectangle 42"/>
            <p:cNvSpPr/>
            <p:nvPr/>
          </p:nvSpPr>
          <p:spPr>
            <a:xfrm>
              <a:off x="666750" y="52197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6023" y="5424964"/>
              <a:ext cx="6888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我的判断：学套路更要学避坑：对标账号的优势不一定能复制，要找自己的差异化切口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6229498" cy="906589"/>
            <a:chOff x="666750" y="971550"/>
            <a:chExt cx="6229498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600889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· 爆款规律与差异化机会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4016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抄爆款的底层逻辑 + 找到自己的切入点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" y="2381250"/>
            <a:ext cx="10858500" cy="3714750"/>
            <a:chOff x="666750" y="2381250"/>
            <a:chExt cx="10858500" cy="371475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37147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6493" y="2727008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竞品爆款三大规律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8398" y="3196114"/>
              <a:ext cx="98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选题规律</a:t>
              </a:r>
              <a:endParaRPr lang="zh-CN" sz="12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541" y="3458528"/>
              <a:ext cx="3841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痛点型话题（踩雷/避坑）流量高；学生党/平价标签自带搜索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8398" y="4196239"/>
              <a:ext cx="98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封面规律</a:t>
              </a:r>
              <a:endParaRPr lang="zh-CN" sz="12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541" y="4458652"/>
              <a:ext cx="3339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大字报+数字锚点封面点击率高；前后对比图强于单图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8398" y="5196364"/>
              <a:ext cx="98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标题规律</a:t>
              </a:r>
              <a:endParaRPr lang="zh-CN" sz="12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541" y="5458778"/>
              <a:ext cx="2427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数字+悬念+情绪词，点击率与搜索双高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91250" y="2381250"/>
              <a:ext cx="5334000" cy="3714750"/>
            </a:xfrm>
            <a:prstGeom prst="roundRect">
              <a:avLst>
                <a:gd name="adj" fmla="val 5128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2381250"/>
              <a:ext cx="533400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20993" y="2727008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我的差异化机会点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22898" y="3243739"/>
              <a:ext cx="21026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成分 + 平价双赛道切入</a:t>
              </a:r>
              <a:endParaRPr lang="zh-CN" sz="12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4041" y="35061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用成分党视角讲平价产品，建立专业记忆点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22898" y="4291489"/>
              <a:ext cx="1921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真实测评 + 踩雷实录</a:t>
              </a:r>
              <a:endParaRPr lang="zh-CN" sz="12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24041" y="45539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踩雷实录反向种草，增强可信度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2898" y="5339239"/>
              <a:ext cx="1713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数据驱动内容迭代</a:t>
              </a:r>
              <a:endParaRPr lang="zh-CN" sz="12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041" y="56016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数据复盘指导选题，提升爆款率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3511715" cy="906589"/>
            <a:chOff x="666750" y="971550"/>
            <a:chExt cx="3511715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30829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 · 内容策略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 大内容方向 · 再也不愁发什么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6750" y="2381250"/>
            <a:ext cx="10287000" cy="3429000"/>
            <a:chOff x="666750" y="2381250"/>
            <a:chExt cx="10287000" cy="342900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2428875" cy="34290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2428875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9630" y="27432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干货科普类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5058" y="297942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30%</a:t>
              </a:r>
              <a:endParaRPr lang="en-US" sz="24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1535" y="3545681"/>
              <a:ext cx="14338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成分解析 / 护肤误区 /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肤质科普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857250" y="466725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1916" y="4839652"/>
              <a:ext cx="2010918" cy="4053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价值：建立专业信任，吸引搜索流</a:t>
              </a:r>
              <a:b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量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286125" y="2381250"/>
              <a:ext cx="2428875" cy="34290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286125" y="2381250"/>
              <a:ext cx="2428875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69005" y="27432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种草测评类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64433" y="297942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30%</a:t>
              </a:r>
              <a:endParaRPr lang="en-US" sz="24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70910" y="3545681"/>
              <a:ext cx="14338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产品实测 / 好物推荐 /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对比测评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3476625" y="466725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71291" y="48396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价值：直接转化，出爆文概率高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905500" y="2381250"/>
              <a:ext cx="2428875" cy="34290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05500" y="2381250"/>
              <a:ext cx="2428875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88380" y="27432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日常人设类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83808" y="297942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20%</a:t>
              </a:r>
              <a:endParaRPr lang="en-US" sz="24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90285" y="3545681"/>
              <a:ext cx="14338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品牌日常 / 幕后花絮 /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用户反馈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0" y="466725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90666" y="48396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价值：拉近距离，增加粉丝粘性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24875" y="2381250"/>
              <a:ext cx="2428875" cy="34290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524875" y="2381250"/>
              <a:ext cx="2428875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07755" y="27432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热点借势类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3183" y="297942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20%</a:t>
              </a:r>
              <a:endParaRPr lang="en-US" sz="24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09660" y="3545681"/>
              <a:ext cx="147650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节日节点 / 开学季 / 换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季护肤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8715375" y="466725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10041" y="48396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价值：蹭流量，快速提升曝光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444632" cy="906589"/>
            <a:chOff x="666750" y="971550"/>
            <a:chExt cx="4444632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376565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 · 14 天选题库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从快速起号到深化测试，节奏清晰可执行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66750" y="2381250"/>
            <a:ext cx="10858500" cy="3905250"/>
            <a:chOff x="666750" y="2381250"/>
            <a:chExt cx="10858500" cy="390525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390525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7730" y="2676525"/>
              <a:ext cx="1775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 1 周 · 快速起号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29718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0397" y="31332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1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3416" y="3077528"/>
              <a:ext cx="2470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学生党必看！50 元内平价护肤好物合集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87506" y="3141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好物种草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0397" y="35904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2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3416" y="3534728"/>
              <a:ext cx="2795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你的洗面奶选对了吗？氨基酸 vs 皂基大科普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87506" y="3598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干货科普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0397" y="40476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3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3416" y="3991928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网红面霜真的好用吗？5 款热门面霜实测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7506" y="4055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实测测评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0397" y="45048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4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23416" y="4449128"/>
              <a:ext cx="179755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打工人的早 C 晚 A 护肤 vlog ·</a:t>
              </a:r>
              <a:b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 分钟搞定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7216" y="4512945"/>
              <a:ext cx="524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日常 vlog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0397" y="49620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5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3416" y="49063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敏感肌自救指南！这几个成分一定要避开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87506" y="49701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干货避坑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397" y="54192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6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23416" y="5363528"/>
              <a:ext cx="2569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100 元搞定整套水乳？这 5 款要入不踩雷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87506" y="5427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好物种草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0397" y="58764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7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23416" y="5820728"/>
              <a:ext cx="30567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用合集+科普建立专业感，再用测评锚定内容方向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87506" y="5884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内容复盘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86500" y="2381250"/>
              <a:ext cx="5238750" cy="390525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7480" y="2676525"/>
              <a:ext cx="1775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 2 周 · 深化测试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6515100" y="29718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0147" y="31332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8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3166" y="307752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素颜出门也自信！这套护肤流程绝了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07255" y="3141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干货教程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10147" y="3590449"/>
              <a:ext cx="362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9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43166" y="35347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踩过无数坑才总结的防晒选购指南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07255" y="3598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干货避坑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10147" y="4047649"/>
              <a:ext cx="440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10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3166" y="399192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 款网红精华真实测评 · 谁才是性价比之王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07255" y="4055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实测测评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10147" y="4504849"/>
              <a:ext cx="440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11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3166" y="44491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熬夜党急救！第二天气色好到发光的秘诀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07255" y="4512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好物种草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10147" y="4962049"/>
              <a:ext cx="440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12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43166" y="490632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化妆台上这几样东西赶紧扔！过期护肤品危害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07255" y="49701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避坑科普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10147" y="5419249"/>
              <a:ext cx="440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13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43166" y="5363528"/>
              <a:ext cx="215093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我的晚间护肤 routine · 温愈系护肤</a:t>
              </a:r>
              <a:b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vlog</a:t>
              </a:r>
              <a:endParaRPr lang="en-US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76966" y="5427345"/>
              <a:ext cx="524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日常 vlog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10147" y="5876449"/>
              <a:ext cx="440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Day 14</a:t>
              </a:r>
              <a:endParaRPr lang="en-US" sz="98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43166" y="5820728"/>
              <a:ext cx="255098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教程+测评强化专业人设，vlog+测评提升真</a:t>
              </a:r>
              <a:b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05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实感</a:t>
              </a:r>
              <a:endPara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07255" y="5884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内容复盘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· 爆款内容公式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怎么发更容易爆？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6750" y="2381250"/>
            <a:ext cx="10858500" cy="3714750"/>
            <a:chOff x="666750" y="2381250"/>
            <a:chExt cx="10858500" cy="371475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3714750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6493" y="272700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爆款公式四要素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8779" y="3251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标题公式</a:t>
              </a:r>
              <a:endParaRPr lang="zh-CN" sz="12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541" y="3487102"/>
              <a:ext cx="22157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人群 + 痛点 + 方案 / 反常识 + 数字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8779" y="37757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封面黄金法则</a:t>
              </a:r>
              <a:endParaRPr lang="zh-CN" sz="12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541" y="4010978"/>
              <a:ext cx="2427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真人+产品同框；大字标题+前后对比图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8779" y="4299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正文结构</a:t>
              </a:r>
              <a:endParaRPr lang="zh-CN" sz="12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541" y="4534852"/>
              <a:ext cx="2759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痛点开头 → 干货测评 → 总结建议 → 互动提问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8779" y="4823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发布节奏</a:t>
              </a:r>
              <a:endParaRPr lang="zh-CN" sz="12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41" y="5058728"/>
              <a:ext cx="29719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每周 4-5 更；工作日 17-19 点；周末 10-12 点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8779" y="5347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标签组合</a:t>
              </a:r>
              <a:endParaRPr lang="zh-CN" sz="120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9541" y="5582602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大流量词 + 垂直词 + 长尾词，5-8 个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2381250"/>
              <a:ext cx="5334000" cy="3714750"/>
            </a:xfrm>
            <a:prstGeom prst="roundRect">
              <a:avLst>
                <a:gd name="adj" fmla="val 5128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91250" y="2381250"/>
              <a:ext cx="533400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20993" y="27270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爆款核心逻辑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2898" y="3291364"/>
              <a:ext cx="17408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开头 3 秒抓注意力</a:t>
              </a:r>
              <a:endParaRPr lang="zh-CN" sz="12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041" y="3553778"/>
              <a:ext cx="28518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标题+首图决定点击；用痛点/反常识让用户停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4243864"/>
              <a:ext cx="1351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中间给足干货</a:t>
              </a:r>
              <a:endParaRPr lang="zh-CN" sz="12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4041" y="4506278"/>
              <a:ext cx="2774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内容要有信息增量；收藏/转发决定二次分发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22898" y="5196364"/>
              <a:ext cx="11709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结尾留钩子</a:t>
              </a:r>
              <a:endParaRPr lang="zh-CN" sz="12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4041" y="5458778"/>
              <a:ext cx="2569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提问/征集/投票；互动率越高，推流越多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· 爆款文案案例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2885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种草篇 + 教程篇 + 写作心法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6750" y="2381250"/>
            <a:ext cx="10858500" cy="3810000"/>
            <a:chOff x="666750" y="2381250"/>
            <a:chExt cx="10858500" cy="381000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24765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8873" y="27198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种草篇</a:t>
              </a:r>
              <a:endParaRPr lang="zh-CN" sz="1280" b="1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7730" y="3124200"/>
              <a:ext cx="333946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「30 块钱的快乐！这几支洗面奶绝了」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9635" y="3545681"/>
              <a:ext cx="2137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650" indent="-120650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黄金 3 秒：价格锚点 + 情绪词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9635" y="3945731"/>
              <a:ext cx="30422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650" indent="-120650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正文：真实使用场景 + 成分亮点 + 适合人群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9635" y="4345781"/>
              <a:ext cx="34493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650" indent="-120650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结尾：提问引导评论，比如「你们还有谁用过？」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2381250"/>
              <a:ext cx="5238750" cy="24765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08623" y="27198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教程篇</a:t>
              </a:r>
              <a:endParaRPr lang="zh-CN" sz="1280" b="1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7480" y="3124200"/>
              <a:ext cx="38500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「新手护肤入门｜5 步搞定基础护肤</a:t>
              </a:r>
              <a:r>
                <a:rPr lang="en-US" alt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超简单」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9385" y="3545681"/>
              <a:ext cx="2288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650" indent="-120650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黄金 3 秒：新手痛点 + 结果承诺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09385" y="3945731"/>
              <a:ext cx="2740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650" indent="-120650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正文：步骤清单 + 产品推荐 + 避坑提醒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9385" y="4345781"/>
              <a:ext cx="1964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650" indent="-120650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结尾：收藏引导 + 下期预告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5143500"/>
              <a:ext cx="10858500" cy="1047750"/>
            </a:xfrm>
            <a:prstGeom prst="roundRect">
              <a:avLst>
                <a:gd name="adj" fmla="val 18182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7255" y="5267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文案写作心法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9541" y="56016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口语化有温度，真实感就是流量密码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9476" y="5562917"/>
              <a:ext cx="2752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标题公式：数字+利益 / 反好奇 / 人群+痛点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541" y="5942647"/>
              <a:ext cx="3290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正文结构：场景代入 + 情绪共鸣 + 分点 + emoji 节奏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00626" y="5942647"/>
              <a:ext cx="2456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标签组合：大流量词 + 垂直词 + 长尾词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5254176" cy="906589"/>
            <a:chOff x="666750" y="971550"/>
            <a:chExt cx="5254176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503357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· 美妆个护合规边界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先守住红线，再谈爆款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6750" y="2381250"/>
            <a:ext cx="10858500" cy="3143250"/>
            <a:chOff x="666750" y="2381250"/>
            <a:chExt cx="10858500" cy="314325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10858500" cy="952500"/>
            </a:xfrm>
            <a:prstGeom prst="roundRect">
              <a:avLst>
                <a:gd name="adj" fmla="val 16000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8017" y="2616518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美妆赛道特殊：成分宣传、功效词有广告合规风险</a:t>
              </a:r>
              <a:endParaRPr lang="zh-CN" sz="13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9541" y="2934652"/>
              <a:ext cx="5601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普通化妆品不能写医疗/治疗功效；合作笔记需标注利益相关；避免绝对化、虚假成分宣传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3524250"/>
              <a:ext cx="3333750" cy="20002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352425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011" y="37990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功效词红线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916" y="4125278"/>
              <a:ext cx="2284286" cy="4053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❌ 不碰：美白/祛斑/祛痘/抗衰/瘦脸/</a:t>
              </a:r>
              <a:b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生发/消炎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1916" y="4525328"/>
              <a:ext cx="2404300" cy="4053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✅ 改用：提亮肤色/匀净肤色/舒缓痘肌/</a:t>
              </a:r>
              <a:b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肤质改善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916" y="4925378"/>
              <a:ext cx="2456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⚠️ 特殊化妆品需持特证才可写对应功效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33875" y="3524250"/>
              <a:ext cx="3333750" cy="20002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33875" y="352425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17136" y="37990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广告标注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19041" y="4125278"/>
              <a:ext cx="2491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合作/推广内容需明确标注「利益相关」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9041" y="4525328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按小红书平台要求使用报备/标签功能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9041" y="492537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不通过暗语、谐音、拆分字规避审核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3524250"/>
              <a:ext cx="3333750" cy="20002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01000" y="352425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84261" y="379904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成分宣传边界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6166" y="41252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不夸大单一成分功效，不虚构数据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6166" y="452532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不做「医生推荐」「专家研发」等虚假背书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6166" y="4925378"/>
              <a:ext cx="2524316" cy="4053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个人感受可写：「我觉得很好用」≠ 功效承</a:t>
              </a:r>
              <a:b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诺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750" y="5775960"/>
            <a:ext cx="10858500" cy="533400"/>
            <a:chOff x="666750" y="5219700"/>
            <a:chExt cx="10858500" cy="533400"/>
          </a:xfrm>
        </p:grpSpPr>
        <p:sp>
          <p:nvSpPr>
            <p:cNvPr id="28" name="Rectangle 28"/>
            <p:cNvSpPr/>
            <p:nvPr/>
          </p:nvSpPr>
          <p:spPr>
            <a:xfrm>
              <a:off x="666750" y="52197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023" y="5424964"/>
              <a:ext cx="6707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我的判断：合规不是束缚，是长期运营的护城河；一次违规限流比十次爆款更伤账号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3791193" cy="683323"/>
            <a:chOff x="666750" y="971550"/>
            <a:chExt cx="3791193" cy="683323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357059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06 · 冷启动涨粉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6750" y="2124075"/>
            <a:ext cx="10668000" cy="3429000"/>
            <a:chOff x="666750" y="2381250"/>
            <a:chExt cx="10668000" cy="342900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3333750" cy="3429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90575" y="2552700"/>
              <a:ext cx="419100" cy="41910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4198" y="2676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5118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账号打底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8166" y="291560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 1-2 周</a:t>
              </a:r>
              <a:endParaRPr lang="zh-CN" sz="1050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895350" y="323850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9635" y="3402806"/>
              <a:ext cx="2378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完善主页资料，先发 10 条干货铺底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9635" y="39266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简介写清「专注平价护肤」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9635" y="4450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首屏统一视觉，一眼知道你是谁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33875" y="2381250"/>
              <a:ext cx="3333750" cy="3429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457700" y="2552700"/>
              <a:ext cx="419100" cy="41910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01323" y="2676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92243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蹭流破圈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95291" y="291560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 3-5 周</a:t>
              </a:r>
              <a:endParaRPr lang="zh-CN" sz="1050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4562475" y="323850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56760" y="34028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紧跟热门话题，评论区活跃互动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56760" y="3926681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跟同赛道互鉴，埋 5-8 个热搜词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56760" y="4450556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目标：单篇曝光 5000+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2381250"/>
              <a:ext cx="3333750" cy="3429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124825" y="2552700"/>
              <a:ext cx="419100" cy="419100"/>
            </a:xfrm>
            <a:prstGeom prst="ellipse">
              <a:avLst/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8448" y="2676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59368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爆款突破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62416" y="291560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 6-8 周</a:t>
              </a:r>
              <a:endParaRPr lang="zh-CN" sz="1050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8229600" y="323850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23885" y="34028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复盘数据，把表现好的选题放大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3885" y="3926681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集中火力出 2-3 篇深度文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3885" y="4450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找到「爆款模板」，复用并优化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" y="5892165"/>
            <a:ext cx="10858500" cy="838200"/>
            <a:chOff x="666750" y="5924550"/>
            <a:chExt cx="10858500" cy="838200"/>
          </a:xfrm>
        </p:grpSpPr>
        <p:sp>
          <p:nvSpPr>
            <p:cNvPr id="34" name="Rectangle 34"/>
            <p:cNvSpPr/>
            <p:nvPr/>
          </p:nvSpPr>
          <p:spPr>
            <a:xfrm>
              <a:off x="666750" y="5924550"/>
              <a:ext cx="10858500" cy="838200"/>
            </a:xfrm>
            <a:prstGeom prst="roundRect">
              <a:avLst>
                <a:gd name="adj" fmla="val 18182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6023" y="6101239"/>
              <a:ext cx="2717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风险预案：若连续 5 篇曝光 &lt; 500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166" y="6411278"/>
              <a:ext cx="49014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暂停盲目日更 → 回看选题与封面 → 做 1 篇高信息密度干货 → 换角度小成本测试</a:t>
              </a:r>
              <a:endParaRPr lang="zh-CN" sz="10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06 · 发布节奏优化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让每一篇都踩在流量高峰上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" y="2381250"/>
            <a:ext cx="10668000" cy="2952750"/>
            <a:chOff x="666750" y="2381250"/>
            <a:chExt cx="10668000" cy="295275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3333750" cy="295275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6968" y="2727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发布时间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9635" y="3212306"/>
              <a:ext cx="203835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工作日下午 5-7 点：通勤与睡前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刷手机高峰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9635" y="3802856"/>
              <a:ext cx="191033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周末上午 10-12 点：懒床刷内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容的黄金档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9635" y="4393406"/>
              <a:ext cx="242951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避开凌晨与工作日上午，流量池明显偏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冷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33875" y="2381250"/>
              <a:ext cx="3333750" cy="295275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33875" y="238125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54093" y="2727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发布频率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56760" y="3212306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每周 4-5 更，稳定比爆发更重要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56760" y="3802856"/>
              <a:ext cx="216636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新号前 7 天可适度高频，但前提内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容质量稳定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56760" y="4393406"/>
              <a:ext cx="242951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质量差的高频发布会拉低账号权重，反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拖冷启动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2381250"/>
              <a:ext cx="3333750" cy="295275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01000" y="2381250"/>
              <a:ext cx="3333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21218" y="2727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标签策略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23885" y="3212306"/>
              <a:ext cx="190322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大流量词 + 垂直词 + 长尾词组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23885" y="3802856"/>
              <a:ext cx="2137918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5-8 个最合适，太少没覆盖，太多</a:t>
              </a:r>
              <a:b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被判堆砌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23885" y="43934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每两周替换一次失效词，跟着热搜走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6750" y="5619750"/>
            <a:ext cx="10858500" cy="533400"/>
            <a:chOff x="666750" y="5619750"/>
            <a:chExt cx="10858500" cy="533400"/>
          </a:xfrm>
        </p:grpSpPr>
        <p:sp>
          <p:nvSpPr>
            <p:cNvPr id="25" name="Rectangle 25"/>
            <p:cNvSpPr/>
            <p:nvPr/>
          </p:nvSpPr>
          <p:spPr>
            <a:xfrm>
              <a:off x="666750" y="561975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6023" y="5825014"/>
              <a:ext cx="6345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我的判断：发布时间不是玄学，是匹配用户活跃时段；频率稳定算法才愿意给量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5254176" cy="906589"/>
            <a:chOff x="666750" y="971550"/>
            <a:chExt cx="5254176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503357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 · 后台数据指标总览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小红书创作者后台的四大板块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66750" y="2381250"/>
            <a:ext cx="10858500" cy="3381375"/>
            <a:chOff x="666750" y="2381250"/>
            <a:chExt cx="10858500" cy="3381375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1571625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7349" y="268747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观看数据</a:t>
              </a:r>
              <a:endParaRPr lang="zh-CN" sz="15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0397" y="29617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内容被看见的能力</a:t>
              </a:r>
              <a:endParaRPr lang="zh-CN" sz="980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40181" y="33618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曝光数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76425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21256" y="33618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观看数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57500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70403" y="33618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封面点击率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38575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85514" y="33618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平均观看时长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819650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64481" y="33618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完播率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2381250"/>
              <a:ext cx="5238750" cy="1571625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07099" y="268747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互动数据</a:t>
              </a:r>
              <a:endParaRPr lang="zh-CN" sz="15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10147" y="29617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内容被引发反馈的能力</a:t>
              </a:r>
              <a:endParaRPr lang="zh-CN" sz="980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15100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9931" y="33618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点赞数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496175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741006" y="33618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评论数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477250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22081" y="33618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收藏数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458325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703156" y="33618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分享数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439400" y="325755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18267" y="33618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被引用数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6750" y="4191000"/>
              <a:ext cx="5238750" cy="1571625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6750" y="419100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87349" y="449722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涨粉数据</a:t>
              </a:r>
              <a:endParaRPr lang="zh-CN" sz="15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0397" y="47715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内容沉淀为资产的能力</a:t>
              </a:r>
              <a:endParaRPr lang="zh-CN" sz="980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95350" y="506730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40181" y="51715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涨粉数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876425" y="506730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55292" y="51715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新增关注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857500" y="506730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036367" y="51715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取消关注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838575" y="506730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17442" y="51715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主页访客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819650" y="506730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32553" y="51715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主页转粉率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86500" y="4191000"/>
              <a:ext cx="5238750" cy="1571625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86500" y="419100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07099" y="449722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发布数据</a:t>
              </a:r>
              <a:endParaRPr lang="zh-CN" sz="15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10147" y="47715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72B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运营动作的稳定性（次要）</a:t>
              </a:r>
              <a:endParaRPr lang="zh-CN" sz="980" dirty="0">
                <a:solidFill>
                  <a:srgbClr val="F472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515100" y="506730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93967" y="51715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发布篇数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496175" y="506730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675042" y="51715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发布频率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477250" y="5067300"/>
              <a:ext cx="904875" cy="323850"/>
            </a:xfrm>
            <a:prstGeom prst="roundRect">
              <a:avLst>
                <a:gd name="adj" fmla="val 50000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56117" y="51715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违规记录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66750" y="6085205"/>
            <a:ext cx="10858500" cy="533400"/>
            <a:chOff x="666750" y="5715000"/>
            <a:chExt cx="10858500" cy="533400"/>
          </a:xfrm>
        </p:grpSpPr>
        <p:sp>
          <p:nvSpPr>
            <p:cNvPr id="59" name="Rectangle 59"/>
            <p:cNvSpPr/>
            <p:nvPr/>
          </p:nvSpPr>
          <p:spPr>
            <a:xfrm>
              <a:off x="666750" y="57150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6023" y="5920264"/>
              <a:ext cx="63215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我的判断：数据是诊断工具不是 KPI 枷锁；先看趋势与归因，再看单篇涨跌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 · 观看数据深读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783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不是单向漏斗，是消费 + 反哺的循环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" name="Rectangle 6"/>
          <p:cNvSpPr/>
          <p:nvPr/>
        </p:nvSpPr>
        <p:spPr>
          <a:xfrm>
            <a:off x="666750" y="2381250"/>
            <a:ext cx="5238750" cy="3429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FBCFE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66750" y="2381250"/>
            <a:ext cx="5238750" cy="114300"/>
          </a:xfrm>
          <a:prstGeom prst="roundRect">
            <a:avLst>
              <a:gd name="adj" fmla="val 50000"/>
            </a:avLst>
          </a:prstGeom>
          <a:solidFill>
            <a:srgbClr val="E91E8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99795" y="3201035"/>
            <a:ext cx="30734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曝光</a:t>
            </a:r>
            <a:endParaRPr lang="zh-CN" sz="1050" b="1" dirty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1524000" y="3143250"/>
            <a:ext cx="3619500" cy="247650"/>
          </a:xfrm>
          <a:prstGeom prst="roundRect">
            <a:avLst>
              <a:gd name="adj" fmla="val 30769"/>
            </a:avLst>
          </a:prstGeom>
          <a:solidFill>
            <a:srgbClr val="E91E8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99795" y="3454400"/>
            <a:ext cx="23387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不是定值，受账号权重/标签/历史互动反向影响</a:t>
            </a:r>
            <a:endParaRPr lang="zh-CN" sz="82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9795" y="3734435"/>
            <a:ext cx="30734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</a:t>
            </a:r>
            <a:endParaRPr lang="zh-CN" sz="1050" b="1" dirty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1524000" y="3676650"/>
            <a:ext cx="2762250" cy="247650"/>
          </a:xfrm>
          <a:prstGeom prst="roundRect">
            <a:avLst>
              <a:gd name="adj" fmla="val 30769"/>
            </a:avLst>
          </a:prstGeom>
          <a:solidFill>
            <a:srgbClr val="F472B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99795" y="3987800"/>
            <a:ext cx="16821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封面 + 标题决定，与内容质量无关</a:t>
            </a:r>
            <a:endParaRPr lang="zh-CN" sz="82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9795" y="4267835"/>
            <a:ext cx="30734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观看</a:t>
            </a:r>
            <a:endParaRPr lang="zh-CN" sz="1050" b="1" dirty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1524000" y="4210050"/>
            <a:ext cx="2000250" cy="247650"/>
          </a:xfrm>
          <a:prstGeom prst="roundRect">
            <a:avLst>
              <a:gd name="adj" fmla="val 30769"/>
            </a:avLst>
          </a:prstGeom>
          <a:solidFill>
            <a:srgbClr val="F472B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99795" y="4521200"/>
            <a:ext cx="15716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开头 3 秒抓住人，才算真正开始</a:t>
            </a:r>
            <a:endParaRPr lang="zh-CN" sz="82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9795" y="4801235"/>
            <a:ext cx="30734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完播</a:t>
            </a:r>
            <a:endParaRPr lang="zh-CN" sz="1050" b="1" dirty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1524000" y="4743450"/>
            <a:ext cx="1238250" cy="247650"/>
          </a:xfrm>
          <a:prstGeom prst="roundRect">
            <a:avLst>
              <a:gd name="adj" fmla="val 30769"/>
            </a:avLst>
          </a:prstGeom>
          <a:solidFill>
            <a:srgbClr val="F472B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99795" y="5054600"/>
            <a:ext cx="177546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同时受视频时长与内容质量双重影响</a:t>
            </a:r>
            <a:endParaRPr lang="zh-CN" sz="82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904875" y="5429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FBCF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99795" y="5486400"/>
            <a:ext cx="2626360" cy="1758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封面点击率 = 观看 ÷ 曝光　完播率 = 完播 ÷ 观看</a:t>
            </a:r>
            <a:endParaRPr lang="zh-CN" sz="90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795" y="5662295"/>
            <a:ext cx="34867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短视频天然高完播，长视频哪怕内容好完播也低，要按时长归一化看</a:t>
            </a:r>
            <a:endParaRPr lang="zh-CN" sz="820" b="1" dirty="0">
              <a:solidFill>
                <a:srgbClr val="E91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6191250" y="2381250"/>
            <a:ext cx="5334000" cy="3429000"/>
          </a:xfrm>
          <a:prstGeom prst="roundRect">
            <a:avLst>
              <a:gd name="adj" fmla="val 5556"/>
            </a:avLst>
          </a:prstGeom>
          <a:solidFill>
            <a:srgbClr val="FDF2F8"/>
          </a:solidFill>
          <a:ln w="9525">
            <a:solidFill>
              <a:srgbClr val="FBCFE8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191250" y="2381250"/>
            <a:ext cx="5334000" cy="1143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905750" y="3095625"/>
            <a:ext cx="1905000" cy="381000"/>
          </a:xfrm>
          <a:prstGeom prst="roundRect">
            <a:avLst>
              <a:gd name="adj" fmla="val 25000"/>
            </a:avLst>
          </a:prstGeom>
          <a:solidFill>
            <a:srgbClr val="E91E8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512810" y="3204210"/>
            <a:ext cx="69088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你的内容</a:t>
            </a:r>
            <a:endParaRPr 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424295" y="3217545"/>
            <a:ext cx="76200" cy="1758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lang="en-US" sz="90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651240" y="3554095"/>
            <a:ext cx="41338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引发</a:t>
            </a:r>
            <a:endParaRPr lang="zh-CN" sz="1050" dirty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848475" y="376237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130415" y="3856990"/>
            <a:ext cx="27368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点赞</a:t>
            </a:r>
            <a:endParaRPr lang="zh-CN" sz="980" dirty="0">
              <a:solidFill>
                <a:srgbClr val="E91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7762875" y="376237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044815" y="3856990"/>
            <a:ext cx="27368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</a:t>
            </a:r>
            <a:endParaRPr lang="zh-CN" sz="980" dirty="0">
              <a:solidFill>
                <a:srgbClr val="E91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8677275" y="376237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959215" y="3856990"/>
            <a:ext cx="27368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endParaRPr lang="zh-CN" sz="980" dirty="0">
              <a:solidFill>
                <a:srgbClr val="E91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9591675" y="376237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873615" y="3856990"/>
            <a:ext cx="27368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转发</a:t>
            </a:r>
            <a:endParaRPr lang="zh-CN" sz="980" dirty="0">
              <a:solidFill>
                <a:srgbClr val="E91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10506075" y="376237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788015" y="3856990"/>
            <a:ext cx="27368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</a:t>
            </a:r>
            <a:endParaRPr lang="zh-CN" sz="980" dirty="0">
              <a:solidFill>
                <a:srgbClr val="E91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424295" y="3836670"/>
            <a:ext cx="76200" cy="1758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lang="en-US" sz="90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651240" y="4125595"/>
            <a:ext cx="41338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沉淀</a:t>
            </a:r>
            <a:endParaRPr lang="zh-CN" sz="1050" dirty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7905750" y="4314825"/>
            <a:ext cx="1905000" cy="381000"/>
          </a:xfrm>
          <a:prstGeom prst="roundRect">
            <a:avLst>
              <a:gd name="adj" fmla="val 25000"/>
            </a:avLst>
          </a:prstGeom>
          <a:solidFill>
            <a:srgbClr val="F472B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41055" y="4423410"/>
            <a:ext cx="83502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账号权重 ↑</a:t>
            </a:r>
            <a:endParaRPr 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424295" y="4455795"/>
            <a:ext cx="76200" cy="1758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lang="en-US" sz="90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651240" y="4773295"/>
            <a:ext cx="41338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推动</a:t>
            </a:r>
            <a:endParaRPr lang="zh-CN" sz="1050" dirty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7905750" y="4962525"/>
            <a:ext cx="1905000" cy="381000"/>
          </a:xfrm>
          <a:prstGeom prst="roundRect">
            <a:avLst>
              <a:gd name="adj" fmla="val 25000"/>
            </a:avLst>
          </a:prstGeom>
          <a:solidFill>
            <a:srgbClr val="E91E8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355965" y="5071110"/>
            <a:ext cx="100457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下一轮曝光 ↑</a:t>
            </a:r>
            <a:endParaRPr 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424295" y="5103495"/>
            <a:ext cx="76200" cy="1758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lang="en-US" sz="90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Freeform 50"/>
          <p:cNvSpPr/>
          <p:nvPr/>
        </p:nvSpPr>
        <p:spPr>
          <a:xfrm>
            <a:off x="9893935" y="4667250"/>
            <a:ext cx="254000" cy="485775"/>
          </a:xfrm>
          <a:custGeom>
            <a:avLst/>
            <a:gdLst/>
            <a:ahLst/>
            <a:cxnLst/>
            <a:rect l="l" t="t" r="r" b="b"/>
            <a:pathLst>
              <a:path w="254000" h="485775">
                <a:moveTo>
                  <a:pt x="0" y="485775"/>
                </a:moveTo>
                <a:cubicBezTo>
                  <a:pt x="254000" y="161925"/>
                  <a:pt x="254000" y="0"/>
                  <a:pt x="0" y="0"/>
                </a:cubicBezTo>
              </a:path>
            </a:pathLst>
          </a:custGeom>
          <a:noFill/>
          <a:ln w="14288">
            <a:solidFill>
              <a:srgbClr val="1F1F1F"/>
            </a:solidFill>
          </a:ln>
        </p:spPr>
      </p:sp>
      <p:sp>
        <p:nvSpPr>
          <p:cNvPr id="51" name="Freeform 51"/>
          <p:cNvSpPr/>
          <p:nvPr/>
        </p:nvSpPr>
        <p:spPr>
          <a:xfrm rot="19260000">
            <a:off x="9810750" y="4631690"/>
            <a:ext cx="232410" cy="76200"/>
          </a:xfrm>
          <a:custGeom>
            <a:avLst/>
            <a:gdLst/>
            <a:ahLst/>
            <a:cxnLst/>
            <a:rect l="l" t="t" r="r" b="b"/>
            <a:pathLst>
              <a:path w="123825" h="66675">
                <a:moveTo>
                  <a:pt x="47625" y="0"/>
                </a:moveTo>
                <a:lnTo>
                  <a:pt x="0" y="66675"/>
                </a:lnTo>
                <a:moveTo>
                  <a:pt x="47625" y="0"/>
                </a:moveTo>
                <a:lnTo>
                  <a:pt x="123825" y="66675"/>
                </a:lnTo>
              </a:path>
            </a:pathLst>
          </a:custGeom>
          <a:noFill/>
          <a:ln w="14288">
            <a:solidFill>
              <a:srgbClr val="1F1F1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0377805" y="4892675"/>
            <a:ext cx="2305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lang="zh-CN" sz="820" dirty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Line 53"/>
          <p:cNvSpPr/>
          <p:nvPr/>
        </p:nvSpPr>
        <p:spPr>
          <a:xfrm>
            <a:off x="6429375" y="54768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FBCFE8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424295" y="5607050"/>
            <a:ext cx="38112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互动率 = 互动 ÷ 观看　下一轮曝光 ≈ f(本轮互动率, 账号权重, 标签匹配)</a:t>
            </a:r>
            <a:endParaRPr lang="zh-CN" sz="820" b="1" dirty="0">
              <a:solidFill>
                <a:srgbClr val="E91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8" name="Group 58"/>
          <p:cNvGrpSpPr/>
          <p:nvPr/>
        </p:nvGrpSpPr>
        <p:grpSpPr>
          <a:xfrm>
            <a:off x="666750" y="5969000"/>
            <a:ext cx="10858500" cy="533400"/>
            <a:chOff x="666750" y="5969000"/>
            <a:chExt cx="10858500" cy="533400"/>
          </a:xfrm>
        </p:grpSpPr>
        <p:sp>
          <p:nvSpPr>
            <p:cNvPr id="56" name="Rectangle 56"/>
            <p:cNvSpPr/>
            <p:nvPr/>
          </p:nvSpPr>
          <p:spPr>
            <a:xfrm>
              <a:off x="666750" y="59690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6023" y="6110764"/>
              <a:ext cx="6888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我的判断：曝光是变量不是定值，完播要看视频时长归一化，互动反向决定下一轮分发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 · 互动数据深读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五种互动，重量级完全不同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" y="2381250"/>
            <a:ext cx="10858500" cy="3048000"/>
            <a:chOff x="666750" y="2381250"/>
            <a:chExt cx="10858500" cy="304800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3048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7255" y="26955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互动价值阶梯（越往下越重）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9541" y="324897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点赞</a:t>
              </a:r>
              <a:endPara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24000" y="3190875"/>
              <a:ext cx="1238250" cy="266700"/>
            </a:xfrm>
            <a:prstGeom prst="roundRect">
              <a:avLst>
                <a:gd name="adj" fmla="val 28571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871788" y="32746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轻认同，成本最低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541" y="368712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收藏</a:t>
              </a:r>
              <a:endPara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24000" y="3629025"/>
              <a:ext cx="1762125" cy="266700"/>
            </a:xfrm>
            <a:prstGeom prst="roundRect">
              <a:avLst>
                <a:gd name="adj" fmla="val 28571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95662" y="371284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觉得有用，干货信号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9541" y="412527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评论</a:t>
              </a:r>
              <a:endPara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524000" y="4067175"/>
              <a:ext cx="2286000" cy="266700"/>
            </a:xfrm>
            <a:prstGeom prst="roundRect">
              <a:avLst>
                <a:gd name="adj" fmla="val 28571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19538" y="41509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愿意参与，社区信号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9541" y="456342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分享</a:t>
              </a:r>
              <a:endPara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524000" y="4505325"/>
              <a:ext cx="2809875" cy="2667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43412" y="45891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强认同，社交货币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9541" y="5001578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被引用</a:t>
              </a:r>
              <a:endParaRPr lang="zh-CN" sz="10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524000" y="4943475"/>
              <a:ext cx="3333750" cy="2667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7288" y="50272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成了素材源，权威信号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91250" y="2381250"/>
              <a:ext cx="5334000" cy="3048000"/>
            </a:xfrm>
            <a:prstGeom prst="roundRect">
              <a:avLst>
                <a:gd name="adj" fmla="val 6250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2381250"/>
              <a:ext cx="533400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21755" y="2695575"/>
              <a:ext cx="2199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互动结构 → 结论 → 动作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4041" y="3077528"/>
              <a:ext cx="1071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点赞高 + 收藏低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4612" y="3303270"/>
              <a:ext cx="3765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结论：有趣但没干货｜动作：加清单、步骤、总结，把笑点变成知识点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4041" y="3629978"/>
              <a:ext cx="1071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收藏高 + 评论少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4612" y="3855720"/>
              <a:ext cx="34019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结论：有干货但缺钩子｜动作：结尾加提问或投票，主动要互动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041" y="41824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分享数高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4612" y="4408170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结论：内容自带社交货币｜动作：做系列化，引导转发给朋友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4041" y="47348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被引用数多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4612" y="4960620"/>
              <a:ext cx="35231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结论：已成同赛道素材源｜动作：强化专业背书，整理成合集沉淀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6750" y="5715000"/>
            <a:ext cx="10858500" cy="533400"/>
            <a:chOff x="666750" y="5715000"/>
            <a:chExt cx="10858500" cy="533400"/>
          </a:xfrm>
        </p:grpSpPr>
        <p:sp>
          <p:nvSpPr>
            <p:cNvPr id="36" name="Rectangle 36"/>
            <p:cNvSpPr/>
            <p:nvPr/>
          </p:nvSpPr>
          <p:spPr>
            <a:xfrm>
              <a:off x="666750" y="57150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6023" y="5920264"/>
              <a:ext cx="7069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我的判断：收藏率是干货价值的试金石，评论率是社区温度；两项都低说明内容看了就忘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5741837" cy="906589"/>
            <a:chOff x="666750" y="971550"/>
            <a:chExt cx="5741837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552123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 · 涨粉数据与粉丝资产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涨粉是结果，转粉率才是可控过程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6750" y="2280285"/>
            <a:ext cx="10858500" cy="3429000"/>
            <a:chOff x="666750" y="2381250"/>
            <a:chExt cx="10858500" cy="342900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34290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7636" y="2656046"/>
              <a:ext cx="1620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后台五个核心指标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9160" y="306943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涨粉数</a:t>
              </a:r>
              <a:endParaRPr lang="zh-CN" sz="11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0112" y="330327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周期内净增长的粉丝总量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160" y="35647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新增关注</a:t>
              </a:r>
              <a:endParaRPr lang="zh-CN" sz="11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0112" y="379857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新关注人数，看内容拉新能力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160" y="40600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取消关注</a:t>
              </a:r>
              <a:endParaRPr lang="zh-CN" sz="11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0112" y="4293870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取关人数，看内容是否跑偏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9160" y="45553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主页访客</a:t>
              </a:r>
              <a:endParaRPr lang="zh-CN" sz="11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0112" y="478917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点进主页的人，是转粉的分母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160" y="505063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主页转粉率</a:t>
              </a:r>
              <a:endParaRPr lang="zh-CN" sz="11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0112" y="5356225"/>
              <a:ext cx="18450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涨粉数 ÷ 主页访客，看主页说服力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904875" y="5334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9922" y="5546249"/>
              <a:ext cx="18522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净增粉 = 新增关注 − 取消关注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2381250"/>
              <a:ext cx="5334000" cy="3429000"/>
            </a:xfrm>
            <a:prstGeom prst="roundRect">
              <a:avLst>
                <a:gd name="adj" fmla="val 5556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91250" y="2381250"/>
              <a:ext cx="533400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22136" y="2656046"/>
              <a:ext cx="20818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涨粉异常 → 原因 → 动作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4041" y="3077528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涨粉低但互动高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4612" y="3303270"/>
              <a:ext cx="3765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原因：内容好却没给关注理由｜动作：强化人设连续性，做成系列内容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24041" y="36680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主页转粉率低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4612" y="3893820"/>
              <a:ext cx="41288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原因：主页装修与简介没说服力｜动作：重写简介，整理合集，统一封面风格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4041" y="42586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取消关注突增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4612" y="4484370"/>
              <a:ext cx="34019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原因：某篇内容偏离定位｜动作：回看该篇是否跑偏，及时纠偏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4041" y="4849178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主页访客高却零转化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612" y="5074920"/>
              <a:ext cx="40077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原因：内容吸引来的人不是目标用户｜动作：收窄选题，回到核心人群痛点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" y="5905500"/>
            <a:ext cx="10858500" cy="533400"/>
            <a:chOff x="666750" y="5905500"/>
            <a:chExt cx="10858500" cy="533400"/>
          </a:xfrm>
        </p:grpSpPr>
        <p:sp>
          <p:nvSpPr>
            <p:cNvPr id="33" name="Rectangle 33"/>
            <p:cNvSpPr/>
            <p:nvPr/>
          </p:nvSpPr>
          <p:spPr>
            <a:xfrm>
              <a:off x="666750" y="59055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6023" y="6110764"/>
              <a:ext cx="6164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我的判断：涨粉数只是结果，主页转粉率才是运营真正能动手优化的过程指标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5741837" cy="906589"/>
            <a:chOff x="666750" y="971550"/>
            <a:chExt cx="5741837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552123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 · 粉丝数据精细化运营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粉丝资产看活跃，不看总数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6750" y="2381250"/>
            <a:ext cx="10858500" cy="3048000"/>
            <a:chOff x="666750" y="2381250"/>
            <a:chExt cx="10858500" cy="304800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2000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20002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3054" y="2680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新增粉丝</a:t>
              </a:r>
              <a:endParaRPr lang="zh-CN" sz="12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388" y="29698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周期内新关注的净增量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819150" y="3476625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388" y="359854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看拉新节奏是否健康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38450" y="2381250"/>
              <a:ext cx="2000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38450" y="2381250"/>
              <a:ext cx="20002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84754" y="2680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流失粉丝</a:t>
              </a:r>
              <a:endParaRPr lang="zh-CN" sz="12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86088" y="29698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取关与清粉的流失量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2990850" y="3476625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86088" y="35985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突增说明内容跑偏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10150" y="2381250"/>
              <a:ext cx="2000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10150" y="2381250"/>
              <a:ext cx="20002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56454" y="26803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活跃粉丝占比</a:t>
              </a:r>
              <a:endParaRPr lang="zh-CN" sz="12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7788" y="29698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有互动行为的粉丝比例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5162550" y="3476625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57788" y="359854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衡量粉丝是不是活的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181850" y="2381250"/>
              <a:ext cx="2000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81850" y="2381250"/>
              <a:ext cx="20002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28154" y="26803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日均观看粉丝</a:t>
              </a:r>
              <a:endParaRPr lang="zh-CN" sz="12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29488" y="29698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每天来看内容的粉丝数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7334250" y="3476625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29488" y="359854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衡量内容对存量粉丝的吸引力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353550" y="2381250"/>
              <a:ext cx="20002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353550" y="2381250"/>
              <a:ext cx="20002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99854" y="26803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日均互动粉丝</a:t>
              </a:r>
              <a:endParaRPr lang="zh-CN" sz="12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01188" y="29698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每天点赞评论的粉丝数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9505950" y="3476625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9525">
              <a:solidFill>
                <a:srgbClr val="FBCFE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501188" y="35985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衡量粉丝粘性与社区氛围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6750" y="4048125"/>
              <a:ext cx="10858500" cy="1381125"/>
            </a:xfrm>
            <a:prstGeom prst="roundRect">
              <a:avLst>
                <a:gd name="adj" fmla="val 13793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7636" y="427529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三个典型判断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922" y="4609624"/>
              <a:ext cx="4376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活跃粉丝占比持续低于 10% → 粉丝是死粉，内容没粘性，要重做人设连接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9922" y="4857274"/>
              <a:ext cx="42252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日均观看粉丝掉但总粉丝涨 → 新粉没沉淀，拉新内容偏离了老粉的兴趣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922" y="5104924"/>
              <a:ext cx="36975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rgbClr val="4B556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流失集中在某篇之后 → 那篇跑偏了，立即回看定位并调整排期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66750" y="5715000"/>
            <a:ext cx="10858500" cy="533400"/>
            <a:chOff x="666750" y="5715000"/>
            <a:chExt cx="10858500" cy="533400"/>
          </a:xfrm>
        </p:grpSpPr>
        <p:sp>
          <p:nvSpPr>
            <p:cNvPr id="42" name="Rectangle 42"/>
            <p:cNvSpPr/>
            <p:nvPr/>
          </p:nvSpPr>
          <p:spPr>
            <a:xfrm>
              <a:off x="666750" y="57150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6023" y="5920264"/>
              <a:ext cx="5983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我的判断：一万死粉不如一千活粉；粉丝资产的价值在活跃占比，不在总数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 · 关注粉丝画像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画像不是报表，是内容选题的输入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750" y="2381250"/>
            <a:ext cx="10858500" cy="3095625"/>
            <a:chOff x="666750" y="2381250"/>
            <a:chExt cx="10858500" cy="3095625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442" y="2635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年龄分布</a:t>
              </a:r>
              <a:endParaRPr lang="zh-CN" sz="13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347" y="29236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看什么：主力年龄段占比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1347" y="3152299"/>
              <a:ext cx="22262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怎么用：决定产品价位带与使用场景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1538" y="3446145"/>
              <a:ext cx="27961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例：18-24 岁为主就讲学生党预算，25+ 就讲抗初老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381250"/>
              <a:ext cx="52387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2381250"/>
              <a:ext cx="5238750" cy="9525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89192" y="2635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地域分布</a:t>
              </a:r>
              <a:endParaRPr lang="zh-CN" sz="13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91097" y="29236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看什么：一二线还是下沉市场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91097" y="3152299"/>
              <a:ext cx="19492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怎么用：决定渠道与价格敏感度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1288" y="3446145"/>
              <a:ext cx="2553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例：一二线重成分与品牌，下沉重性价比与口碑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" y="4048125"/>
              <a:ext cx="52387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4048125"/>
              <a:ext cx="52387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442" y="4302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兴趣标签</a:t>
              </a:r>
              <a:endParaRPr lang="zh-CN" sz="13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347" y="459057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看什么：粉丝还关注哪些领域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347" y="4819174"/>
              <a:ext cx="20877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怎么用：决定跨界选题与联名方向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538" y="5113020"/>
              <a:ext cx="2329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例：护肤 + 穿搭重合高，就做通勤护肤穿搭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86500" y="4048125"/>
              <a:ext cx="523875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4048125"/>
              <a:ext cx="5238750" cy="9525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9192" y="4302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活跃时段</a:t>
              </a:r>
              <a:endParaRPr lang="zh-CN" sz="13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1097" y="459057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看什么：粉丝在线时间分布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1097" y="4819174"/>
              <a:ext cx="1810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怎么用：决定发布与开播时间</a:t>
              </a:r>
              <a:endParaRPr lang="zh-CN" sz="98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1288" y="5113020"/>
              <a:ext cx="24084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例：晚 8-10 点活跃就把重磅内容排在这个档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6750" y="5715000"/>
            <a:ext cx="10858500" cy="533400"/>
            <a:chOff x="666750" y="5715000"/>
            <a:chExt cx="10858500" cy="533400"/>
          </a:xfrm>
        </p:grpSpPr>
        <p:sp>
          <p:nvSpPr>
            <p:cNvPr id="31" name="Rectangle 31"/>
            <p:cNvSpPr/>
            <p:nvPr/>
          </p:nvSpPr>
          <p:spPr>
            <a:xfrm>
              <a:off x="666750" y="57150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6023" y="5920264"/>
              <a:ext cx="6707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我的判断：画像与内容人群一旦对不上，就是内容跑偏的早期信号，比掉粉来得更早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 · 数据复盘闭环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从看数到用数做决策的五步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750" y="2381250"/>
            <a:ext cx="10858500" cy="2238375"/>
            <a:chOff x="666750" y="2381250"/>
            <a:chExt cx="10858500" cy="2238375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30744" y="2597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数据采集</a:t>
              </a:r>
              <a:endParaRPr lang="zh-CN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01719" y="2866549"/>
              <a:ext cx="43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1</a:t>
              </a:r>
              <a:endParaRPr lang="en-US" sz="9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F472B6"/>
            </a:solidFill>
            <a:ln w="9525">
              <a:solidFill>
                <a:srgbClr val="F472B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45294" y="2597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归因分析</a:t>
              </a:r>
              <a:endParaRPr lang="zh-CN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16269" y="2866549"/>
              <a:ext cx="43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2</a:t>
              </a:r>
              <a:endParaRPr lang="en-US" sz="9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89585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59844" y="2597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提出假设</a:t>
              </a:r>
              <a:endParaRPr lang="zh-CN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0819" y="2866549"/>
              <a:ext cx="43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3</a:t>
              </a:r>
              <a:endParaRPr lang="en-US" sz="9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01040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F472B6"/>
            </a:solidFill>
            <a:ln w="9525">
              <a:solidFill>
                <a:srgbClr val="F472B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13279" y="2597468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AB 测试</a:t>
              </a:r>
              <a:endParaRPr lang="zh-CN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369" y="2866549"/>
              <a:ext cx="43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4</a:t>
              </a:r>
              <a:endParaRPr lang="en-US" sz="9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12495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88944" y="2597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沉淀模板</a:t>
              </a:r>
              <a:endParaRPr lang="zh-CN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59919" y="2866549"/>
              <a:ext cx="43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5</a:t>
              </a:r>
              <a:endParaRPr lang="en-US" sz="9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6750" y="3333750"/>
              <a:ext cx="10858500" cy="12382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3333750"/>
              <a:ext cx="10858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7636" y="3608546"/>
              <a:ext cx="15838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AB 测试怎么落地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160" y="402193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测什么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795" y="4276090"/>
              <a:ext cx="3051810" cy="34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封面图、标题、开头 3 秒钩子，一次只变一个变量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23410" y="402193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样本量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4045" y="4276090"/>
              <a:ext cx="3025140" cy="295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单组 ≥ 200 曝光，或连续 3 天数据稳定再下结论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47660" y="40219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怎么判读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48422" y="427624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看趋势加显著差距，不凭单篇偶然涨跌拍板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6750" y="5044440"/>
            <a:ext cx="10858500" cy="533400"/>
            <a:chOff x="666750" y="4762500"/>
            <a:chExt cx="10858500" cy="533400"/>
          </a:xfrm>
        </p:grpSpPr>
        <p:sp>
          <p:nvSpPr>
            <p:cNvPr id="31" name="Rectangle 31"/>
            <p:cNvSpPr/>
            <p:nvPr/>
          </p:nvSpPr>
          <p:spPr>
            <a:xfrm>
              <a:off x="666750" y="47625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6023" y="4967764"/>
              <a:ext cx="54408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我的判断：复盘的目的不是写报告，是找到下一个可复用的爆款模板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5107877" cy="906589"/>
            <a:chOff x="666750" y="971550"/>
            <a:chExt cx="5107877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88727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08 · 个人号 vs 品牌号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同一平台，两套运营逻辑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6750" y="2027555"/>
            <a:ext cx="10858500" cy="3892487"/>
            <a:chOff x="666750" y="2381250"/>
            <a:chExt cx="10858500" cy="3892487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3810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6493" y="2727008"/>
              <a:ext cx="1684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个人号 / 博主号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9160" y="316468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运营目标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541" y="34013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涨粉、打造人设、接商单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160" y="38314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内容逻辑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541" y="406812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真实体验驱动，真实感放首位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160" y="449818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考核指标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541" y="47348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粉丝量、互动率、商单报价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9160" y="51649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转化路径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41" y="5401628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种草 → 主页 → 私信 / 外链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160" y="583168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核心风险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9541" y="60683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人设翻车，账号价值归零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2381250"/>
              <a:ext cx="5334000" cy="3810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91250" y="2381250"/>
              <a:ext cx="53340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20993" y="2727008"/>
              <a:ext cx="1684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品牌号 / 商家号</a:t>
              </a:r>
              <a:endParaRPr 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3660" y="316468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运营目标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041" y="3401378"/>
              <a:ext cx="1780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品牌声量、商品点击、GMV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3660" y="38314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内容逻辑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4041" y="406812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品牌资产驱动，调性要统一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23660" y="449818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考核指标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4041" y="4734878"/>
              <a:ext cx="1892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曝光、进店率、转化率、ROI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3660" y="51649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转化路径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4041" y="5401628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笔记 → 商品卡 / 店铺 → 下单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3660" y="583168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核心风险</a:t>
              </a:r>
              <a:endParaRPr lang="zh-CN" sz="112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041" y="606837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硬广会被压低分发，需软性种草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" y="6082665"/>
            <a:ext cx="10858500" cy="533400"/>
            <a:chOff x="666750" y="6267450"/>
            <a:chExt cx="10858500" cy="533400"/>
          </a:xfrm>
        </p:grpSpPr>
        <p:sp>
          <p:nvSpPr>
            <p:cNvPr id="33" name="Rectangle 33"/>
            <p:cNvSpPr/>
            <p:nvPr/>
          </p:nvSpPr>
          <p:spPr>
            <a:xfrm>
              <a:off x="666750" y="626745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6023" y="6472714"/>
              <a:ext cx="6164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我的判断：个人号卖的是人，品牌号卖的是货与信任；运营动作因此完全不同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08 · 种草转化链路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笔记不止曝光，要走到下单与声量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6750" y="2743200"/>
            <a:ext cx="10858500" cy="2352675"/>
            <a:chOff x="666750" y="2743200"/>
            <a:chExt cx="10858500" cy="2352675"/>
          </a:xfrm>
        </p:grpSpPr>
        <p:sp>
          <p:nvSpPr>
            <p:cNvPr id="6" name="Rectangle 6"/>
            <p:cNvSpPr/>
            <p:nvPr/>
          </p:nvSpPr>
          <p:spPr>
            <a:xfrm>
              <a:off x="666750" y="2743200"/>
              <a:ext cx="1762125" cy="666750"/>
            </a:xfrm>
            <a:prstGeom prst="roundRect">
              <a:avLst>
                <a:gd name="adj" fmla="val 200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7712" y="2918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笔记曝光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65727" y="3160395"/>
              <a:ext cx="754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观看 / 点击率</a:t>
              </a:r>
              <a:endParaRPr lang="zh-CN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6773" y="2981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lang="en-US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38425" y="2743200"/>
              <a:ext cx="1762125" cy="666750"/>
            </a:xfrm>
            <a:prstGeom prst="roundRect">
              <a:avLst>
                <a:gd name="adj" fmla="val 20000"/>
              </a:avLst>
            </a:prstGeom>
            <a:solidFill>
              <a:srgbClr val="F472B6"/>
            </a:solidFill>
            <a:ln w="9525">
              <a:solidFill>
                <a:srgbClr val="F472B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69387" y="2918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点击进入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07068" y="31603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封面点击率</a:t>
              </a:r>
              <a:endParaRPr lang="zh-CN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8448" y="2981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lang="en-US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10100" y="2743200"/>
              <a:ext cx="1762125" cy="666750"/>
            </a:xfrm>
            <a:prstGeom prst="roundRect">
              <a:avLst>
                <a:gd name="adj" fmla="val 20000"/>
              </a:avLst>
            </a:prstGeom>
            <a:solidFill>
              <a:srgbClr val="F472B6"/>
            </a:solidFill>
            <a:ln w="9525">
              <a:solidFill>
                <a:srgbClr val="F472B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41062" y="2918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商品点击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78742" y="31603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商品点击率</a:t>
              </a:r>
              <a:endParaRPr lang="zh-CN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0123" y="2981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lang="en-US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581775" y="2743200"/>
              <a:ext cx="1762125" cy="666750"/>
            </a:xfrm>
            <a:prstGeom prst="roundRect">
              <a:avLst>
                <a:gd name="adj" fmla="val 20000"/>
              </a:avLst>
            </a:prstGeom>
            <a:solidFill>
              <a:srgbClr val="F472B6"/>
            </a:solidFill>
            <a:ln w="9525">
              <a:solidFill>
                <a:srgbClr val="F472B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15204" y="291846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进店 / 搜索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50418" y="31603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进店转化率</a:t>
              </a:r>
              <a:endParaRPr lang="zh-CN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798" y="2981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lang="en-US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53450" y="2743200"/>
              <a:ext cx="1762125" cy="666750"/>
            </a:xfrm>
            <a:prstGeom prst="roundRect">
              <a:avLst>
                <a:gd name="adj" fmla="val 200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51768" y="2918460"/>
              <a:ext cx="755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下单 GMV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56942" y="316039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转化率 / ROI</a:t>
              </a:r>
              <a:endParaRPr lang="zh-CN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6750" y="3952875"/>
              <a:ext cx="10858500" cy="1143000"/>
            </a:xfrm>
            <a:prstGeom prst="roundRect">
              <a:avLst>
                <a:gd name="adj" fmla="val 15000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8398" y="4129564"/>
              <a:ext cx="20303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品牌声量 &amp; 转化数据看板</a:t>
              </a:r>
              <a:endParaRPr lang="zh-CN" sz="12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9922" y="4390549"/>
              <a:ext cx="4159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声量 = 品牌搜索量 + 相关笔记数 + 互动总量，衡量种草是否被用户记住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905500" y="47434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78842" y="48367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商品点击率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24650" y="47434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83260" y="4836795"/>
              <a:ext cx="444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进店 UV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43800" y="47434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38300" y="48367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加购率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362950" y="47434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57450" y="48367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转化率</a:t>
              </a:r>
              <a:endParaRPr lang="zh-CN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82100" y="47434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39923" y="4836795"/>
              <a:ext cx="2463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GMV</a:t>
              </a:r>
              <a:endParaRPr lang="en-US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001250" y="47434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75075" y="4836795"/>
              <a:ext cx="2143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ROI</a:t>
              </a:r>
              <a:endParaRPr lang="en-US" sz="900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" y="5424805"/>
            <a:ext cx="10858500" cy="533400"/>
            <a:chOff x="666750" y="5219700"/>
            <a:chExt cx="10858500" cy="533400"/>
          </a:xfrm>
        </p:grpSpPr>
        <p:sp>
          <p:nvSpPr>
            <p:cNvPr id="41" name="Rectangle 41"/>
            <p:cNvSpPr/>
            <p:nvPr/>
          </p:nvSpPr>
          <p:spPr>
            <a:xfrm>
              <a:off x="666750" y="52197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6023" y="5424964"/>
              <a:ext cx="5802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我的判断：曝光是起点不是终点；盯的是整条转化链路，而不是单篇爆款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6691671" cy="906589"/>
            <a:chOff x="666750" y="971550"/>
            <a:chExt cx="6691671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647107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08 · Brief 拆解与商业化平衡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品牌方要的不是内容，是生意结果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66750" y="2085340"/>
            <a:ext cx="10858500" cy="4095750"/>
            <a:chOff x="666750" y="2381250"/>
            <a:chExt cx="10858500" cy="409575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87225" y="2594610"/>
              <a:ext cx="664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读 Brief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19263" y="2855595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1</a:t>
              </a:r>
              <a:endParaRPr lang="en-US" sz="9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F472B6"/>
            </a:solidFill>
            <a:ln w="9525">
              <a:solidFill>
                <a:srgbClr val="F472B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03651" y="25946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拆核心信息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33813" y="2855595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2</a:t>
              </a:r>
              <a:endParaRPr lang="en-US" sz="9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89585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18201" y="25946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定内容承接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8363" y="2855595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3</a:t>
              </a:r>
              <a:endParaRPr lang="en-US" sz="9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01040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F472B6"/>
            </a:solidFill>
            <a:ln w="9525">
              <a:solidFill>
                <a:srgbClr val="F472B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63130" y="25946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平衡商业与人设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62913" y="2855595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4</a:t>
              </a:r>
              <a:endParaRPr lang="en-US" sz="9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124950" y="2381250"/>
              <a:ext cx="1905000" cy="762000"/>
            </a:xfrm>
            <a:prstGeom prst="roundRect">
              <a:avLst>
                <a:gd name="adj" fmla="val 175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21870" y="2594610"/>
              <a:ext cx="711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复盘 ROI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77463" y="2855595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STEP 5</a:t>
              </a:r>
              <a:endParaRPr lang="en-US" sz="9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6750" y="3429000"/>
              <a:ext cx="5238750" cy="161925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342900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7636" y="3703796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商业化内容平衡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541" y="4077652"/>
              <a:ext cx="245300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植入占比建议</a:t>
              </a:r>
              <a:r>
                <a:rPr lang="en-US" alt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≤ 30%，先给价值再给卖点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541" y="43824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用真实体验承接，不硬凹剧情人设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541" y="4687252"/>
              <a:ext cx="253365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评论区承接，引导</a:t>
              </a:r>
              <a:r>
                <a:rPr lang="zh-CN" altLang="en-US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站内搜索品牌名</a:t>
              </a:r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而非硬广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3429000"/>
              <a:ext cx="5334000" cy="1619250"/>
            </a:xfrm>
            <a:prstGeom prst="roundRect">
              <a:avLst>
                <a:gd name="adj" fmla="val 11765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191250" y="3429000"/>
              <a:ext cx="533400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22136" y="3703796"/>
              <a:ext cx="10536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ROI 怎么看</a:t>
              </a:r>
              <a:endParaRPr lang="zh-CN" sz="14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4041" y="4077652"/>
              <a:ext cx="1190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ROI = 产出 ÷ 投入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041" y="4382452"/>
              <a:ext cx="27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品牌向看：声量增长 / 搜索提升 / 进店成本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4041" y="4687252"/>
              <a:ext cx="2094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 CPE（单次互动成本）控预算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6750" y="5238750"/>
              <a:ext cx="10858500" cy="1238250"/>
            </a:xfrm>
            <a:prstGeom prst="roundRect">
              <a:avLst>
                <a:gd name="adj" fmla="val 13846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750" y="5238750"/>
              <a:ext cx="1085850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8398" y="5415439"/>
              <a:ext cx="2871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示例：一次 5000 元推广的钱怎么算</a:t>
              </a:r>
              <a:endParaRPr lang="zh-CN" sz="12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5762625"/>
              <a:ext cx="1000125" cy="285750"/>
            </a:xfrm>
            <a:prstGeom prst="roundRect">
              <a:avLst>
                <a:gd name="adj" fmla="val 26667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2317" y="5847874"/>
              <a:ext cx="629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曝光 50 万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809750" y="5762625"/>
              <a:ext cx="1000125" cy="285750"/>
            </a:xfrm>
            <a:prstGeom prst="roundRect">
              <a:avLst>
                <a:gd name="adj" fmla="val 26667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66980" y="5847874"/>
              <a:ext cx="676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互动 5,000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99791" y="5839778"/>
              <a:ext cx="739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CPE = 1 元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191000" y="5762625"/>
              <a:ext cx="1000125" cy="285750"/>
            </a:xfrm>
            <a:prstGeom prst="roundRect">
              <a:avLst>
                <a:gd name="adj" fmla="val 26667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88862" y="5847874"/>
              <a:ext cx="7948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商品点击 300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238750" y="5762625"/>
              <a:ext cx="1000125" cy="285750"/>
            </a:xfrm>
            <a:prstGeom prst="roundRect">
              <a:avLst>
                <a:gd name="adj" fmla="val 26667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19067" y="5847874"/>
              <a:ext cx="629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成交 30 单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28791" y="5839778"/>
              <a:ext cx="700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ROI = 0.9</a:t>
              </a:r>
              <a:endParaRPr lang="en-US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0" y="5762625"/>
              <a:ext cx="1000125" cy="285750"/>
            </a:xfrm>
            <a:prstGeom prst="roundRect">
              <a:avLst>
                <a:gd name="adj" fmla="val 26667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32109" y="5847874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品牌搜索 +120%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667750" y="5762625"/>
              <a:ext cx="1000125" cy="285750"/>
            </a:xfrm>
            <a:prstGeom prst="roundRect">
              <a:avLst>
                <a:gd name="adj" fmla="val 26667"/>
              </a:avLst>
            </a:prstGeom>
            <a:solidFill>
              <a:srgbClr val="FDF2F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785215" y="5847874"/>
              <a:ext cx="755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进店 UV 800</a:t>
              </a:r>
              <a:endParaRPr lang="zh-CN" sz="980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57791" y="5839778"/>
              <a:ext cx="1168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进店成本 6.25 元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9922" y="6181249"/>
              <a:ext cx="105791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注：成交金额按客单价 150 元估算，ROI＜1 说明短期未回本，需叠加品牌声量与长尾搜索综合评估。</a:t>
              </a:r>
              <a:r>
                <a:rPr lang="zh-CN" altLang="en-US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美妆投放很多时候笔记种草有长尾效应，后续复购会带来后续成交，不能直接判定项目失败</a:t>
              </a:r>
              <a:endParaRPr lang="zh-CN" altLang="en-US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66750" y="6245860"/>
            <a:ext cx="10858500" cy="533400"/>
            <a:chOff x="666750" y="5905500"/>
            <a:chExt cx="10858500" cy="533400"/>
          </a:xfrm>
        </p:grpSpPr>
        <p:sp>
          <p:nvSpPr>
            <p:cNvPr id="53" name="Rectangle 53"/>
            <p:cNvSpPr/>
            <p:nvPr/>
          </p:nvSpPr>
          <p:spPr>
            <a:xfrm>
              <a:off x="666750" y="59055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6023" y="6110764"/>
              <a:ext cx="6526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我的判断：商业内容的底线是用户价值；植入破坏人设，会被算法和用户一起抛弃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4278854" cy="906589"/>
            <a:chOff x="666750" y="971550"/>
            <a:chExt cx="4278854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405825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08 · 模拟踩坑复盘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一次高曝光低转化的真实修复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" y="2067560"/>
            <a:ext cx="10858500" cy="3952875"/>
            <a:chOff x="666750" y="2381250"/>
            <a:chExt cx="10858500" cy="3952875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10858500" cy="714375"/>
            </a:xfrm>
            <a:prstGeom prst="roundRect">
              <a:avLst>
                <a:gd name="adj" fmla="val 18667"/>
              </a:avLst>
            </a:prstGeom>
            <a:solidFill>
              <a:srgbClr val="FDF2F8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8779" y="2537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失败场景</a:t>
              </a:r>
              <a:endParaRPr lang="zh-CN" sz="12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9541" y="2791778"/>
              <a:ext cx="5912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一篇「平价精华测评」笔记曝光 2 万、点赞 300+，但商品点击率 &lt;0.5%，进店转化率几乎为 0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3238500"/>
              <a:ext cx="5238750" cy="2286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3238500"/>
              <a:ext cx="5238750" cy="11430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8017" y="3521392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诊断：为什么有流量没转化？</a:t>
              </a:r>
              <a:endParaRPr lang="zh-CN" sz="13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541" y="388715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种草场景不清晰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28672" y="3895249"/>
              <a:ext cx="24967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 只讲成分，没讲「谁适合、什么时候用」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541" y="43253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卖点不突出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8672" y="43333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 产品卖点淹没在 5 款对比里，用户记不住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41" y="47634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缺少行动引导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28672" y="4771549"/>
              <a:ext cx="2100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 正文没引导点击，评论区也没承接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9541" y="52016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封面党嫌疑</a:t>
              </a:r>
              <a:endParaRPr lang="zh-CN" sz="10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8672" y="5209699"/>
              <a:ext cx="23648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 标题强调价格，吸引来的不是购买人群</a:t>
              </a:r>
              <a:endParaRPr lang="zh-CN" sz="98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91250" y="3238500"/>
              <a:ext cx="5334000" cy="2286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191250" y="3238500"/>
              <a:ext cx="5334000" cy="114300"/>
            </a:xfrm>
            <a:prstGeom prst="roundRect">
              <a:avLst>
                <a:gd name="adj" fmla="val 50000"/>
              </a:avLst>
            </a:prstGeom>
            <a:solidFill>
              <a:srgbClr val="F472B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22517" y="3521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修复动作</a:t>
              </a:r>
              <a:endParaRPr lang="zh-CN" sz="13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422" y="3895249"/>
              <a:ext cx="10557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聚焦 1 款主推</a:t>
              </a:r>
              <a:endParaRPr lang="zh-CN" sz="9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7612" y="3903345"/>
              <a:ext cx="16209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砍掉 4 款对比，只讲 1 个爆品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4422" y="4238149"/>
              <a:ext cx="896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加使用场景</a:t>
              </a:r>
              <a:endParaRPr lang="zh-CN" sz="9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7612" y="4246245"/>
              <a:ext cx="2190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「熬夜党急救」「换季维稳」给明确人群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4422" y="4581049"/>
              <a:ext cx="896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封面换卖点</a:t>
              </a:r>
              <a:endParaRPr lang="zh-CN" sz="9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7612" y="4589145"/>
              <a:ext cx="19965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从「便宜」改成「30 块拯救熬夜脸」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4422" y="4923949"/>
              <a:ext cx="896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4. 正文加钩子</a:t>
              </a:r>
              <a:endParaRPr lang="zh-CN" sz="9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7612" y="4932045"/>
              <a:ext cx="250126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结尾加「想试试的扣 1，</a:t>
              </a:r>
              <a:r>
                <a:rPr lang="zh-CN" altLang="en-US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聊聊使用感受</a:t>
              </a:r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」引导互动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4422" y="5266849"/>
              <a:ext cx="896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5. 评论区运营</a:t>
              </a:r>
              <a:endParaRPr lang="zh-CN" sz="98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7612" y="5274945"/>
              <a:ext cx="19480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置顶自用感受，回复引导搜索品牌词</a:t>
              </a:r>
              <a:endParaRPr lang="zh-CN" sz="9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6750" y="5667375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7585" y="594661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复投结果：</a:t>
              </a:r>
              <a:endParaRPr lang="zh-CN" sz="112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49450" y="5948521"/>
              <a:ext cx="6559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商品点击率从 &lt;0.5% 提升至 2.5%，进店 UV 增长 4 倍；关键不是流量，而是流量与卖点匹配</a:t>
              </a:r>
              <a:endParaRPr lang="zh-CN" sz="112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6750" y="6163310"/>
            <a:ext cx="10858500" cy="533400"/>
            <a:chOff x="666750" y="5219700"/>
            <a:chExt cx="10858500" cy="533400"/>
          </a:xfrm>
        </p:grpSpPr>
        <p:sp>
          <p:nvSpPr>
            <p:cNvPr id="37" name="Rectangle 37"/>
            <p:cNvSpPr/>
            <p:nvPr/>
          </p:nvSpPr>
          <p:spPr>
            <a:xfrm>
              <a:off x="666750" y="5219700"/>
              <a:ext cx="10858500" cy="533400"/>
            </a:xfrm>
            <a:prstGeom prst="roundRect">
              <a:avLst>
                <a:gd name="adj" fmla="val 28571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6023" y="5424964"/>
              <a:ext cx="6345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我的判断：复盘的价值：把一次失败拆成可复用的诊断清单，下次少踩同一个坑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971550"/>
            <a:ext cx="3791193" cy="906589"/>
            <a:chOff x="666750" y="971550"/>
            <a:chExt cx="3791193" cy="906589"/>
          </a:xfrm>
        </p:grpSpPr>
        <p:sp>
          <p:nvSpPr>
            <p:cNvPr id="2" name="Rectangle 2"/>
            <p:cNvSpPr/>
            <p:nvPr/>
          </p:nvSpPr>
          <p:spPr>
            <a:xfrm>
              <a:off x="666750" y="971550"/>
              <a:ext cx="95250" cy="47625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7349" y="980122"/>
              <a:ext cx="357059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08 · 我的运营观</a:t>
              </a:r>
              <a:endParaRPr lang="zh-CN" sz="34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6493" y="155543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1E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四条比技巧更重要的底层认知</a:t>
              </a:r>
              <a:endParaRPr lang="zh-CN" sz="1650" b="1" dirty="0">
                <a:solidFill>
                  <a:srgbClr val="E91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6750" y="2381250"/>
            <a:ext cx="10858500" cy="2971800"/>
            <a:chOff x="666750" y="2381250"/>
            <a:chExt cx="10858500" cy="2971800"/>
          </a:xfrm>
        </p:grpSpPr>
        <p:sp>
          <p:nvSpPr>
            <p:cNvPr id="6" name="Rectangle 6"/>
            <p:cNvSpPr/>
            <p:nvPr/>
          </p:nvSpPr>
          <p:spPr>
            <a:xfrm>
              <a:off x="666750" y="2381250"/>
              <a:ext cx="523875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2381250"/>
              <a:ext cx="52387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6394" y="26088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01</a:t>
              </a:r>
              <a:endParaRPr lang="en-US" sz="195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6380" y="263842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内容资产 &gt; 单篇爆款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304895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真正能复利的是方法论与素材库，不是偶然一次的流量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381250"/>
              <a:ext cx="523875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2381250"/>
              <a:ext cx="52387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6144" y="26088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02</a:t>
              </a:r>
              <a:endParaRPr lang="en-US" sz="195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36130" y="2638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理解算法，而非对抗算法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90716" y="30489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顺着分发逻辑做内容，比硬蹭流量更稳也更长久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6750" y="3971925"/>
              <a:ext cx="523875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3971925"/>
              <a:ext cx="52387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6394" y="419957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03</a:t>
              </a:r>
              <a:endParaRPr lang="en-US" sz="195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6380" y="4229100"/>
              <a:ext cx="3151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数据是诊断依据，不是 KPI 枷锁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966" y="463962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看趋势与归因，不被单篇涨跌绑架内容节奏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971925"/>
              <a:ext cx="523875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9525">
              <a:solidFill>
                <a:srgbClr val="FBCFE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971925"/>
              <a:ext cx="5238750" cy="95250"/>
            </a:xfrm>
            <a:prstGeom prst="roundRect">
              <a:avLst>
                <a:gd name="adj" fmla="val 50000"/>
              </a:avLst>
            </a:prstGeom>
            <a:solidFill>
              <a:srgbClr val="E91E8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86144" y="419957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472B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04</a:t>
              </a:r>
              <a:endParaRPr lang="en-US" sz="1950" b="1" dirty="0">
                <a:solidFill>
                  <a:srgbClr val="F472B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36130" y="4229100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用户价值优先，流量自然来</a:t>
              </a:r>
              <a:endParaRPr lang="zh-CN" sz="150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0716" y="463962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先想清楚帮用户解决了什么，再想怎么被看见</a:t>
              </a:r>
              <a:endParaRPr lang="zh-CN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5619750"/>
            <a:ext cx="10858500" cy="571500"/>
            <a:chOff x="666750" y="5619750"/>
            <a:chExt cx="10858500" cy="571500"/>
          </a:xfrm>
        </p:grpSpPr>
        <p:sp>
          <p:nvSpPr>
            <p:cNvPr id="27" name="Rectangle 27"/>
            <p:cNvSpPr/>
            <p:nvPr/>
          </p:nvSpPr>
          <p:spPr>
            <a:xfrm>
              <a:off x="666750" y="5619750"/>
              <a:ext cx="10858500" cy="571500"/>
            </a:xfrm>
            <a:prstGeom prst="roundRect">
              <a:avLst>
                <a:gd name="adj" fmla="val 30000"/>
              </a:avLst>
            </a:prstGeom>
            <a:solidFill>
              <a:srgbClr val="E91E8C"/>
            </a:solidFill>
            <a:ln w="9525">
              <a:solidFill>
                <a:srgbClr val="E91E8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02912" y="5806440"/>
              <a:ext cx="118618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感</a:t>
              </a:r>
              <a:r>
                <a:rPr lang="en-US" alt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谢</a:t>
              </a:r>
              <a:r>
                <a:rPr lang="en-US" alt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观</a:t>
              </a:r>
              <a:r>
                <a:rPr lang="en-US" alt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看 </a:t>
              </a:r>
              <a:endParaRPr lang="zh-CN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2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3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4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5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6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7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8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9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10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11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12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13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14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15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ags/tag16.xml><?xml version="1.0" encoding="utf-8"?>
<p:tagLst xmlns:p="http://schemas.openxmlformats.org/presentationml/2006/main">
  <p:tag name="KSO_WM_DIAGRAM_VIRTUALLY_FRAME" val="{&quot;height&quot;:277.5,&quot;left&quot;:52.5,&quot;top&quot;:187.5,&quot;width&quot;:855}"/>
</p:tagLst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6629</Words>
  <Application>WPS 演示</Application>
  <PresentationFormat>On-screen Show (16:9)</PresentationFormat>
  <Paragraphs>1142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清</cp:lastModifiedBy>
  <cp:revision>11</cp:revision>
  <dcterms:created xsi:type="dcterms:W3CDTF">2026-09-03T06:22:00Z</dcterms:created>
  <dcterms:modified xsi:type="dcterms:W3CDTF">2026-09-03T07:07:00Z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57BC1656CE1042D6AAB58CB77CF71152_12</vt:lpwstr>
  </property>
  <property fmtid="{D5CDD505-2E9C-101B-9397-08002B2CF9AE}" pid="3" name="KSOProductBuildVer">
    <vt:lpwstr>2052-12.1.0.28043</vt:lpwstr>
  </property>
</Properties>
</file>